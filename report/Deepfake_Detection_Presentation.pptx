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MACHINE LEARNING · SEMESTER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3749039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Deepfake</a:t>
            </a:r>
          </a:p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3749039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Segoe UI"/>
              </a:rPr>
              <a:t>Real vs StyleGAN-generated faces with transfer learning and Grad-CAM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3749039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Mohd Shaan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Submitted to Dr. Prakash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October 2026</a:t>
            </a:r>
          </a:p>
        </p:txBody>
      </p:sp>
      <p:pic>
        <p:nvPicPr>
          <p:cNvPr id="7" name="Picture 6" descr="gradcam_f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65163"/>
            <a:ext cx="3291840" cy="51276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778240" y="685800"/>
            <a:ext cx="2926080" cy="118872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795528"/>
            <a:ext cx="2926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3200" b="1">
                <a:solidFill>
                  <a:srgbClr val="1F5FAE"/>
                </a:solidFill>
                <a:latin typeface="Segoe UI"/>
              </a:rPr>
              <a:t>99.84%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435608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59636E"/>
                </a:solidFill>
                <a:latin typeface="Segoe UI"/>
              </a:rPr>
              <a:t>test 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2103120"/>
            <a:ext cx="2926080" cy="118872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2212848"/>
            <a:ext cx="2926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3200" b="1">
                <a:solidFill>
                  <a:srgbClr val="1F5FAE"/>
                </a:solidFill>
                <a:latin typeface="Segoe UI"/>
              </a:rPr>
              <a:t>1.0000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852928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59636E"/>
                </a:solidFill>
                <a:latin typeface="Segoe UI"/>
              </a:rPr>
              <a:t>ROC-AUC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3520440"/>
            <a:ext cx="2926080" cy="118872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3630168"/>
            <a:ext cx="2926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3200" b="1">
                <a:solidFill>
                  <a:srgbClr val="1F5FAE"/>
                </a:solidFill>
                <a:latin typeface="Segoe UI"/>
              </a:rPr>
              <a:t>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270248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59636E"/>
                </a:solidFill>
                <a:latin typeface="Segoe UI"/>
              </a:rPr>
              <a:t>errors / 20,000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4937760"/>
            <a:ext cx="2926080" cy="118872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5047488"/>
            <a:ext cx="2926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3200" b="1">
                <a:solidFill>
                  <a:srgbClr val="1F5FAE"/>
                </a:solidFill>
                <a:latin typeface="Segoe UI"/>
              </a:rPr>
              <a:t>140k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5687568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59636E"/>
                </a:solidFill>
                <a:latin typeface="Segoe UI"/>
              </a:rPr>
              <a:t>face images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5FAE"/>
                </a:solidFill>
                <a:latin typeface="Segoe U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328"/>
                </a:solidFill>
                <a:latin typeface="Segoe UI"/>
              </a:rPr>
              <a:t>Problem and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097280" cy="4572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636E"/>
                </a:solidFill>
                <a:latin typeface="Segoe UI"/>
              </a:rPr>
              <a:t>Deepfake Detection · Real vs StyleGAN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636E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6692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700">
                <a:solidFill>
                  <a:srgbClr val="1F2328"/>
                </a:solidFill>
                <a:latin typeface="Segoe UI"/>
              </a:rPr>
              <a:t>Deepfakes: </a:t>
            </a:r>
            <a:r>
              <a:rPr sz="1700">
                <a:solidFill>
                  <a:srgbClr val="1F2328"/>
                </a:solidFill>
                <a:latin typeface="Segoe UI"/>
              </a:rPr>
              <a:t>images or videos generated by deep networks that look authentic.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700">
                <a:solidFill>
                  <a:srgbClr val="1F2328"/>
                </a:solidFill>
                <a:latin typeface="Segoe UI"/>
              </a:rPr>
              <a:t>Entire-face synthesis: </a:t>
            </a:r>
            <a:r>
              <a:rPr sz="1700">
                <a:solidFill>
                  <a:srgbClr val="1F2328"/>
                </a:solidFill>
                <a:latin typeface="Segoe UI"/>
              </a:rPr>
              <a:t>StyleGAN creates faces of people who do not exist — used for fake profiles, fraud and disinformation.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700">
                <a:solidFill>
                  <a:srgbClr val="1F2328"/>
                </a:solidFill>
                <a:latin typeface="Segoe UI"/>
              </a:rPr>
              <a:t>Humans can't tell: </a:t>
            </a:r>
            <a:r>
              <a:rPr sz="1700">
                <a:solidFill>
                  <a:srgbClr val="1F2328"/>
                </a:solidFill>
                <a:latin typeface="Segoe UI"/>
              </a:rPr>
              <a:t>real and generated faces look the same to the eye.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700">
                <a:solidFill>
                  <a:srgbClr val="1F2328"/>
                </a:solidFill>
                <a:latin typeface="Segoe UI"/>
              </a:rPr>
              <a:t>Our task: </a:t>
            </a:r>
            <a:r>
              <a:rPr sz="1700">
                <a:solidFill>
                  <a:srgbClr val="1F2328"/>
                </a:solidFill>
                <a:latin typeface="Segoe UI"/>
              </a:rPr>
              <a:t>binary classification — given one face image, predict REAL or FAKE with a probability P(fake).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508760"/>
            <a:ext cx="5029200" cy="420624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508760"/>
            <a:ext cx="73152" cy="420624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508760"/>
            <a:ext cx="4754880" cy="4206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2328"/>
                </a:solidFill>
                <a:latin typeface="Segoe UI"/>
              </a:rPr>
              <a:t>Objectives</a:t>
            </a:r>
          </a:p>
          <a:p>
            <a:pPr algn="l"/>
            <a:r>
              <a:rPr sz="1700" b="0">
                <a:solidFill>
                  <a:srgbClr val="1F2328"/>
                </a:solidFill>
                <a:latin typeface="Segoe UI"/>
              </a:rPr>
              <a:t/>
            </a:r>
          </a:p>
          <a:p>
            <a:pPr algn="l"/>
            <a:r>
              <a:rPr sz="1700" b="0">
                <a:solidFill>
                  <a:srgbClr val="1F2328"/>
                </a:solidFill>
                <a:latin typeface="Segoe UI"/>
              </a:rPr>
              <a:t>1. Clean, verified data pipeline + EDA</a:t>
            </a:r>
          </a:p>
          <a:p>
            <a:pPr algn="l"/>
            <a:r>
              <a:rPr sz="1700" b="0">
                <a:solidFill>
                  <a:srgbClr val="1F2328"/>
                </a:solidFill>
                <a:latin typeface="Segoe UI"/>
              </a:rPr>
              <a:t>2. Fine-tune EfficientNet-B0 and ResNet-18</a:t>
            </a:r>
          </a:p>
          <a:p>
            <a:pPr algn="l"/>
            <a:r>
              <a:rPr sz="1700" b="0">
                <a:solidFill>
                  <a:srgbClr val="1F2328"/>
                </a:solidFill>
                <a:latin typeface="Segoe UI"/>
              </a:rPr>
              <a:t>3. Rigorous test-set evaluation + error analysis</a:t>
            </a:r>
          </a:p>
          <a:p>
            <a:pPr algn="l"/>
            <a:r>
              <a:rPr sz="1700" b="0">
                <a:solidFill>
                  <a:srgbClr val="1F2328"/>
                </a:solidFill>
                <a:latin typeface="Segoe UI"/>
              </a:rPr>
              <a:t>4. Explain decisions with Grad-CAM</a:t>
            </a:r>
          </a:p>
          <a:p>
            <a:pPr algn="l"/>
            <a:r>
              <a:rPr sz="1700" b="0">
                <a:solidFill>
                  <a:srgbClr val="1F2328"/>
                </a:solidFill>
                <a:latin typeface="Segoe UI"/>
              </a:rPr>
              <a:t>5. Streamlit demo + out-of-distribution 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5FAE"/>
                </a:solidFill>
                <a:latin typeface="Segoe UI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328"/>
                </a:solidFill>
                <a:latin typeface="Segoe UI"/>
              </a:rPr>
              <a:t>Dataset: 140k Real and Fake 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097280" cy="4572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636E"/>
                </a:solidFill>
                <a:latin typeface="Segoe UI"/>
              </a:rPr>
              <a:t>Deepfake Detection · Real vs StyleGAN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636E"/>
                </a:solidFill>
                <a:latin typeface="Segoe U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8760"/>
          <a:ext cx="548639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306285"/>
                <a:gridCol w="1306285"/>
                <a:gridCol w="1306285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Split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train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50,000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50,000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100,000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valid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10,000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10,000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20,000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test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10,000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10,000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20,000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4290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600">
                <a:solidFill>
                  <a:srgbClr val="1F2328"/>
                </a:solidFill>
                <a:latin typeface="Segoe UI"/>
              </a:rPr>
              <a:t>Real: </a:t>
            </a:r>
            <a:r>
              <a:rPr sz="1600">
                <a:solidFill>
                  <a:srgbClr val="1F2328"/>
                </a:solidFill>
                <a:latin typeface="Segoe UI"/>
              </a:rPr>
              <a:t>70k FFHQ photographs (Flickr)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600">
                <a:solidFill>
                  <a:srgbClr val="1F2328"/>
                </a:solidFill>
                <a:latin typeface="Segoe UI"/>
              </a:rPr>
              <a:t>Fake: </a:t>
            </a:r>
            <a:r>
              <a:rPr sz="1600">
                <a:solidFill>
                  <a:srgbClr val="1F2328"/>
                </a:solidFill>
                <a:latin typeface="Segoe UI"/>
              </a:rPr>
              <a:t>70k StyleGAN images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5FAE"/>
                </a:solidFill>
                <a:latin typeface="Segoe UI"/>
              </a:rPr>
              <a:t>•  </a:t>
            </a:r>
            <a:r>
              <a:rPr sz="1600">
                <a:solidFill>
                  <a:srgbClr val="1F2328"/>
                </a:solidFill>
                <a:latin typeface="Segoe UI"/>
              </a:rPr>
              <a:t>256×256, face-aligned, perfectly balanced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600">
                <a:solidFill>
                  <a:srgbClr val="1F2328"/>
                </a:solidFill>
                <a:latin typeface="Segoe UI"/>
              </a:rPr>
              <a:t>Predefined splits used as-is → </a:t>
            </a:r>
            <a:r>
              <a:rPr sz="1600">
                <a:solidFill>
                  <a:srgbClr val="1F2328"/>
                </a:solidFill>
                <a:latin typeface="Segoe UI"/>
              </a:rPr>
              <a:t>no data leakage; test set used once</a:t>
            </a:r>
          </a:p>
        </p:txBody>
      </p:sp>
      <p:pic>
        <p:nvPicPr>
          <p:cNvPr id="10" name="Picture 9" descr="eda_samples_re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33515"/>
            <a:ext cx="2651760" cy="26652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4917092"/>
            <a:ext cx="26517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59636E"/>
                </a:solidFill>
                <a:latin typeface="Segoe UI"/>
              </a:rPr>
              <a:t>real (FFHQ)</a:t>
            </a:r>
          </a:p>
        </p:txBody>
      </p:sp>
      <p:pic>
        <p:nvPicPr>
          <p:cNvPr id="12" name="Picture 11" descr="eda_samples_fak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233515"/>
            <a:ext cx="2651760" cy="266528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98280" y="4917092"/>
            <a:ext cx="26517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59636E"/>
                </a:solidFill>
                <a:latin typeface="Segoe UI"/>
              </a:rPr>
              <a:t>fake (StyleGAN)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5FAE"/>
                </a:solidFill>
                <a:latin typeface="Segoe UI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328"/>
                </a:solidFill>
                <a:latin typeface="Segoe UI"/>
              </a:rPr>
              <a:t>Exploratory data analysis — clean data, no shortcuts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097280" cy="4572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636E"/>
                </a:solidFill>
                <a:latin typeface="Segoe UI"/>
              </a:rPr>
              <a:t>Deepfake Detection · Real vs StyleGAN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636E"/>
                </a:solidFill>
                <a:latin typeface="Segoe UI"/>
              </a:rPr>
              <a:t>4</a:t>
            </a:r>
          </a:p>
        </p:txBody>
      </p:sp>
      <p:pic>
        <p:nvPicPr>
          <p:cNvPr id="8" name="Picture 7" descr="eda_file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72" y="1508760"/>
            <a:ext cx="4691575" cy="2651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178808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59636E"/>
                </a:solidFill>
                <a:latin typeface="Segoe UI"/>
              </a:rPr>
              <a:t>JPEG file size per class — almost full overlap</a:t>
            </a:r>
          </a:p>
        </p:txBody>
      </p:sp>
      <p:pic>
        <p:nvPicPr>
          <p:cNvPr id="10" name="Picture 9" descr="eda_mean_face_spectr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288746"/>
            <a:ext cx="2743200" cy="28291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52160" y="5136182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59636E"/>
                </a:solidFill>
                <a:latin typeface="Segoe UI"/>
              </a:rPr>
              <a:t>mean face and mean Fourier spectrum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508760"/>
            <a:ext cx="30175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0 </a:t>
            </a:r>
            <a:r>
              <a:rPr sz="1500">
                <a:solidFill>
                  <a:srgbClr val="1F2328"/>
                </a:solidFill>
                <a:latin typeface="Segoe UI"/>
              </a:rPr>
              <a:t>corrupted files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0 </a:t>
            </a:r>
            <a:r>
              <a:rPr sz="1500">
                <a:solidFill>
                  <a:srgbClr val="1F2328"/>
                </a:solidFill>
                <a:latin typeface="Segoe UI"/>
              </a:rPr>
              <a:t>exact duplicates (MD5)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50/50 </a:t>
            </a:r>
            <a:r>
              <a:rPr sz="1500">
                <a:solidFill>
                  <a:srgbClr val="1F2328"/>
                </a:solidFill>
                <a:latin typeface="Segoe UI"/>
              </a:rPr>
              <a:t>balance in every split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All </a:t>
            </a:r>
            <a:r>
              <a:rPr sz="1500">
                <a:solidFill>
                  <a:srgbClr val="1F2328"/>
                </a:solidFill>
                <a:latin typeface="Segoe UI"/>
              </a:rPr>
              <a:t>256×256 RGB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No compression shortcut </a:t>
            </a:r>
            <a:r>
              <a:rPr sz="1500">
                <a:solidFill>
                  <a:srgbClr val="1F2328"/>
                </a:solidFill>
                <a:latin typeface="Segoe UI"/>
              </a:rPr>
              <a:t>(Δ ≈ 0.5 KB)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Spectra nearly identical </a:t>
            </a:r>
            <a:r>
              <a:rPr sz="1500">
                <a:solidFill>
                  <a:srgbClr val="1F2328"/>
                </a:solidFill>
                <a:latin typeface="Segoe UI"/>
              </a:rPr>
              <a:t>→ signal is subtle and local → CNN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5FAE"/>
                </a:solidFill>
                <a:latin typeface="Segoe UI"/>
              </a:rPr>
              <a:t>•  </a:t>
            </a:r>
            <a:r>
              <a:rPr sz="1400">
                <a:solidFill>
                  <a:srgbClr val="1F2328"/>
                </a:solidFill>
                <a:latin typeface="Segoe UI"/>
              </a:rPr>
              <a:t>Full scan of all 140,000 images on Kaggle (≈17 min)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5FAE"/>
                </a:solidFill>
                <a:latin typeface="Segoe UI"/>
              </a:rPr>
              <a:t>•  </a:t>
            </a:r>
            <a:r>
              <a:rPr sz="1400">
                <a:solidFill>
                  <a:srgbClr val="1F2328"/>
                </a:solidFill>
                <a:latin typeface="Segoe UI"/>
              </a:rPr>
              <a:t>Mean fake face is sharper → StyleGAN faces more uniform in pose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5FAE"/>
                </a:solidFill>
                <a:latin typeface="Segoe U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328"/>
                </a:solidFill>
                <a:latin typeface="Segoe UI"/>
              </a:rPr>
              <a:t>Pipeline and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097280" cy="4572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636E"/>
                </a:solidFill>
                <a:latin typeface="Segoe UI"/>
              </a:rPr>
              <a:t>Deepfake Detection · Real vs StyleGAN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636E"/>
                </a:solidFill>
                <a:latin typeface="Segoe UI"/>
              </a:rPr>
              <a:t>5</a:t>
            </a:r>
          </a:p>
        </p:txBody>
      </p:sp>
      <p:pic>
        <p:nvPicPr>
          <p:cNvPr id="8" name="Picture 7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206" y="1508760"/>
            <a:ext cx="9313283" cy="310896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800600"/>
          <a:ext cx="11094415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801"/>
                <a:gridCol w="1386801"/>
                <a:gridCol w="1386801"/>
                <a:gridCol w="1386801"/>
                <a:gridCol w="1386801"/>
                <a:gridCol w="1386801"/>
                <a:gridCol w="1386801"/>
                <a:gridCol w="1386808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Module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dataset.py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eda.py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model.py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train.py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evaluate.py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gradcam.py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app.py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load, resize, augment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data checks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backbones + head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2-phase training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metrics + errors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heatmaps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Streamlit demo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9636E"/>
                </a:solidFill>
                <a:latin typeface="Segoe UI"/>
              </a:rPr>
              <a:t>Built module by module · one commit + one theory document per module · trained on Kaggle (Tesla T4) · reproducible notebooks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5FAE"/>
                </a:solidFill>
                <a:latin typeface="Segoe U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328"/>
                </a:solidFill>
                <a:latin typeface="Segoe UI"/>
              </a:rPr>
              <a:t>Preprocessing and augmentation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097280" cy="4572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636E"/>
                </a:solidFill>
                <a:latin typeface="Segoe UI"/>
              </a:rPr>
              <a:t>Deepfake Detection · Real vs StyleGAN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636E"/>
                </a:solidFill>
                <a:latin typeface="Segoe U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8760"/>
          <a:ext cx="658367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150"/>
                <a:gridCol w="1834796"/>
                <a:gridCol w="3453733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What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Why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Resize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224 × 224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pretraining resolution; 23% cheaper than 256²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Normalise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ImageNet mean / std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match the input distribution of pretrained filters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Flip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horizontal, p = 0.5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a mirrored face is still real/fake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Rotate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± 10°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natural head tilt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Colour jitter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brightness / contrast ± 20%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lighting variety, no colour shortcut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Valid / test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resize + normalise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deterministic, true distribution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074920"/>
            <a:ext cx="6583680" cy="100584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074920"/>
            <a:ext cx="73152" cy="100584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074920"/>
            <a:ext cx="630936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2328"/>
                </a:solidFill>
                <a:latin typeface="Segoe UI"/>
              </a:rPr>
              <a:t>No blur or JPEG augmentation — it could erase the high-frequency GAN artifacts we want the model to learn.</a:t>
            </a:r>
          </a:p>
        </p:txBody>
      </p:sp>
      <p:pic>
        <p:nvPicPr>
          <p:cNvPr id="12" name="Picture 11" descr="eda_bat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45920"/>
            <a:ext cx="4206240" cy="4206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06640" y="5870448"/>
            <a:ext cx="4206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59636E"/>
                </a:solidFill>
                <a:latin typeface="Segoe UI"/>
              </a:rPr>
              <a:t>training batch after augmentation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5FAE"/>
                </a:solidFill>
                <a:latin typeface="Segoe U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328"/>
                </a:solidFill>
                <a:latin typeface="Segoe UI"/>
              </a:rPr>
              <a:t>Two ImageNet-pretrained CNNs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097280" cy="4572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636E"/>
                </a:solidFill>
                <a:latin typeface="Segoe UI"/>
              </a:rPr>
              <a:t>Deepfake Detection · Real vs StyleGAN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636E"/>
                </a:solidFill>
                <a:latin typeface="Segoe U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8760"/>
          <a:ext cx="1109441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4437766"/>
                <a:gridCol w="4437766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EfficientNet-B0 (primary)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ResNet-18 (comparison)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Key idea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compound scaling; MBConv + squeeze-and-excitation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residual connections  y = F(x) + 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Parameters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4.0 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11.2 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Compute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≈ 0.39 GFLOPs / image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≈ 1.8 GFLOPs / image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New head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Linear(1280 → 1)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Linear(512 → 1)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Grad-CAM layer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features[-1]  (1280 × 7 × 7)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layer4[-1]  (512 × 7 × 7)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8920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Transfer learning: </a:t>
            </a:r>
            <a:r>
              <a:rPr sz="1500">
                <a:solidFill>
                  <a:srgbClr val="1F2328"/>
                </a:solidFill>
                <a:latin typeface="Segoe UI"/>
              </a:rPr>
              <a:t>early layers already detect edges and textures — only adapt the later layers (fast, accurate, less over-fitting).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Single logit: </a:t>
            </a:r>
            <a:r>
              <a:rPr sz="1500">
                <a:solidFill>
                  <a:srgbClr val="1F2328"/>
                </a:solidFill>
                <a:latin typeface="Segoe UI"/>
              </a:rPr>
              <a:t>P(fake) = σ(z) — equivalent to a 2-class softmax, trained with BCEWithLogitsLoss.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5FAE"/>
                </a:solidFill>
                <a:latin typeface="Segoe UI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328"/>
                </a:solidFill>
                <a:latin typeface="Segoe UI"/>
              </a:rPr>
              <a:t>Two-phase transfer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097280" cy="4572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636E"/>
                </a:solidFill>
                <a:latin typeface="Segoe UI"/>
              </a:rPr>
              <a:t>Deepfake Detection · Real vs StyleGAN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636E"/>
                </a:solidFill>
                <a:latin typeface="Segoe UI"/>
              </a:rPr>
              <a:t>8</a:t>
            </a:r>
          </a:p>
        </p:txBody>
      </p:sp>
      <p:pic>
        <p:nvPicPr>
          <p:cNvPr id="8" name="Picture 7" descr="two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966" y="1417320"/>
            <a:ext cx="8711762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2918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Phase 1 — warm-up: </a:t>
            </a:r>
            <a:r>
              <a:rPr sz="1500">
                <a:solidFill>
                  <a:srgbClr val="1F2328"/>
                </a:solidFill>
                <a:latin typeface="Segoe UI"/>
              </a:rPr>
              <a:t>backbone frozen, only the random new head learns (lr 1e-4).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Phase 2 — fine-tune: </a:t>
            </a:r>
            <a:r>
              <a:rPr sz="1500">
                <a:solidFill>
                  <a:srgbClr val="1F2328"/>
                </a:solidFill>
                <a:latin typeface="Segoe UI"/>
              </a:rPr>
              <a:t>unfreeze the last blocks with a new optimiser; small lr avoids destroying pretrained features.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Frozen BatchNorm </a:t>
            </a:r>
            <a:r>
              <a:rPr sz="1500">
                <a:solidFill>
                  <a:srgbClr val="1F2328"/>
                </a:solidFill>
                <a:latin typeface="Segoe UI"/>
              </a:rPr>
              <a:t>kept in eval mode so its ImageNet statistics stay fixed.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26480" y="3337560"/>
          <a:ext cx="5486398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581"/>
                <a:gridCol w="1596043"/>
                <a:gridCol w="897774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Configuration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Phase-2 trainable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Share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Segoe UI"/>
                        </a:rPr>
                        <a:t>EfficientNet, 2 blocks (run 02)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Segoe UI"/>
                        </a:rPr>
                        <a:t>1.13 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Segoe UI"/>
                        </a:rPr>
                        <a:t>28%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2328"/>
                          </a:solidFill>
                          <a:latin typeface="Segoe UI"/>
                        </a:rPr>
                        <a:t>EfficientNet, 4 blocks (run 02b)</a:t>
                      </a:r>
                    </a:p>
                  </a:txBody>
                  <a:tcPr marL="73152" marR="73152" marT="36576" marB="36576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2328"/>
                          </a:solidFill>
                          <a:latin typeface="Segoe UI"/>
                        </a:rPr>
                        <a:t>3.70 M</a:t>
                      </a:r>
                    </a:p>
                  </a:txBody>
                  <a:tcPr marL="73152" marR="73152" marT="36576" marB="36576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2328"/>
                          </a:solidFill>
                          <a:latin typeface="Segoe UI"/>
                        </a:rPr>
                        <a:t>92%</a:t>
                      </a:r>
                    </a:p>
                  </a:txBody>
                  <a:tcPr marL="73152" marR="73152" marT="36576" marB="36576">
                    <a:solidFill>
                      <a:srgbClr val="EAF2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Segoe UI"/>
                        </a:rPr>
                        <a:t>ResNet-18, layer3 + layer4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Segoe UI"/>
                        </a:rPr>
                        <a:t>10.49 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Segoe UI"/>
                        </a:rPr>
                        <a:t>94%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5FAE"/>
                </a:solidFill>
                <a:latin typeface="Segoe UI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328"/>
                </a:solidFill>
                <a:latin typeface="Segoe UI"/>
              </a:rPr>
              <a:t>Loss, optimiser and checkpointing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097280" cy="4572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636E"/>
                </a:solidFill>
                <a:latin typeface="Segoe UI"/>
              </a:rPr>
              <a:t>Deepfake Detection · Real vs StyleGAN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636E"/>
                </a:solidFill>
                <a:latin typeface="Segoe U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5440680" cy="201168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1F5FAE"/>
                </a:solidFill>
                <a:latin typeface="Segoe UI"/>
              </a:rPr>
              <a:t>BCE with logits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50292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>
                <a:solidFill>
                  <a:srgbClr val="1F2328"/>
                </a:solidFill>
                <a:latin typeface="Segoe UI"/>
              </a:rPr>
              <a:t>BCE = −[ y·log p + (1−y)·log(1−p) ]</a:t>
            </a:r>
          </a:p>
          <a:p>
            <a:pPr algn="l"/>
            <a:r>
              <a:rPr sz="1700" b="0">
                <a:solidFill>
                  <a:srgbClr val="1F2328"/>
                </a:solidFill>
                <a:latin typeface="Segoe UI"/>
              </a:rPr>
              <a:t>confident mistakes cost the most; sigmoid fused into the loss for stability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5440680" cy="201168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1F5FAE"/>
                </a:solidFill>
                <a:latin typeface="Segoe UI"/>
              </a:rPr>
              <a:t>Adam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50292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>
                <a:solidFill>
                  <a:srgbClr val="1F2328"/>
                </a:solidFill>
                <a:latin typeface="Segoe UI"/>
              </a:rPr>
              <a:t>momentum + per-parameter adaptive step size</a:t>
            </a:r>
          </a:p>
          <a:p>
            <a:pPr algn="l"/>
            <a:r>
              <a:rPr sz="1700" b="0">
                <a:solidFill>
                  <a:srgbClr val="1F2328"/>
                </a:solidFill>
                <a:latin typeface="Segoe UI"/>
              </a:rPr>
              <a:t>lr 1e-4 (head) → 1e-5 / 1e-4 (fine-tune)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49040"/>
            <a:ext cx="5440680" cy="201168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1F5FAE"/>
                </a:solidFill>
                <a:latin typeface="Segoe UI"/>
              </a:rPr>
              <a:t>ReduceLROnPlateau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0292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>
                <a:solidFill>
                  <a:srgbClr val="1F2328"/>
                </a:solidFill>
                <a:latin typeface="Segoe UI"/>
              </a:rPr>
              <a:t>halve the lr when validation loss stops improving for 1 epoch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749040"/>
            <a:ext cx="5440680" cy="201168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862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1F5FAE"/>
                </a:solidFill>
                <a:latin typeface="Segoe UI"/>
              </a:rPr>
              <a:t>Best checkpoint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34840"/>
            <a:ext cx="50292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>
                <a:solidFill>
                  <a:srgbClr val="1F2328"/>
                </a:solidFill>
                <a:latin typeface="Segoe UI"/>
              </a:rPr>
              <a:t>save weights whenever validation loss hits a new minimum — early stopping; resumable _last.pth every epoch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5FAE"/>
                </a:solidFill>
                <a:latin typeface="Segoe U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328"/>
                </a:solidFill>
                <a:latin typeface="Segoe UI"/>
              </a:rPr>
              <a:t>Training results — validation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097280" cy="4572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636E"/>
                </a:solidFill>
                <a:latin typeface="Segoe UI"/>
              </a:rPr>
              <a:t>Deepfake Detection · Real vs StyleGAN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636E"/>
                </a:solidFill>
                <a:latin typeface="Segoe UI"/>
              </a:rPr>
              <a:t>10</a:t>
            </a:r>
          </a:p>
        </p:txBody>
      </p:sp>
      <p:pic>
        <p:nvPicPr>
          <p:cNvPr id="8" name="Picture 7" descr="val_acc_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1382"/>
            <a:ext cx="6949440" cy="36153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1600200"/>
            <a:ext cx="39319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Frozen phase plateaus &lt; 80% </a:t>
            </a:r>
            <a:r>
              <a:rPr sz="1500">
                <a:solidFill>
                  <a:srgbClr val="1F2328"/>
                </a:solidFill>
                <a:latin typeface="Segoe UI"/>
              </a:rPr>
              <a:t>— ImageNet features alone are not enough.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Fine-tuning jumps immediately </a:t>
            </a:r>
            <a:r>
              <a:rPr sz="1500">
                <a:solidFill>
                  <a:srgbClr val="1F2328"/>
                </a:solidFill>
                <a:latin typeface="Segoe UI"/>
              </a:rPr>
              <a:t>(78.6% → 99.2% for EfficientNet at epoch 4).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No over-fitting: </a:t>
            </a:r>
            <a:r>
              <a:rPr sz="1500">
                <a:solidFill>
                  <a:srgbClr val="1F2328"/>
                </a:solidFill>
                <a:latin typeface="Segoe UI"/>
              </a:rPr>
              <a:t>train and validation stay close.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Best: </a:t>
            </a:r>
            <a:r>
              <a:rPr sz="1500">
                <a:solidFill>
                  <a:srgbClr val="1F2328"/>
                </a:solidFill>
                <a:latin typeface="Segoe UI"/>
              </a:rPr>
              <a:t>EfficientNet-B0 99.88% · ResNet-18 98.96%.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≈ 7 min / epoch </a:t>
            </a:r>
            <a:r>
              <a:rPr sz="1500">
                <a:solidFill>
                  <a:srgbClr val="1F2328"/>
                </a:solidFill>
                <a:latin typeface="Segoe UI"/>
              </a:rPr>
              <a:t>on a Kaggle Tesla T4.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5FAE"/>
                </a:solidFill>
                <a:latin typeface="Segoe U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328"/>
                </a:solidFill>
                <a:latin typeface="Segoe UI"/>
              </a:rPr>
              <a:t>Ablation: how much of the network to fine-tune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097280" cy="4572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636E"/>
                </a:solidFill>
                <a:latin typeface="Segoe UI"/>
              </a:rPr>
              <a:t>Deepfake Detection · Real vs StyleGAN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636E"/>
                </a:solidFill>
                <a:latin typeface="Segoe UI"/>
              </a:rPr>
              <a:t>11</a:t>
            </a:r>
          </a:p>
        </p:txBody>
      </p:sp>
      <p:pic>
        <p:nvPicPr>
          <p:cNvPr id="8" name="Picture 7" descr="curves_efficientnet_2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9953"/>
            <a:ext cx="5486400" cy="19950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713295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59636E"/>
                </a:solidFill>
                <a:latin typeface="Segoe UI"/>
              </a:rPr>
              <a:t>run 02 · 2 blocks, lr 1e-5 → 93.71% (under-fitting)</a:t>
            </a:r>
          </a:p>
        </p:txBody>
      </p:sp>
      <p:pic>
        <p:nvPicPr>
          <p:cNvPr id="10" name="Picture 9" descr="curves_efficientnet_4blo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9953"/>
            <a:ext cx="5486400" cy="19950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2200" y="3713295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59636E"/>
                </a:solidFill>
                <a:latin typeface="Segoe UI"/>
              </a:rPr>
              <a:t>run 02b · 4 blocks, lr 1e-4 → 99.88%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80560"/>
            <a:ext cx="11094415" cy="146304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480560"/>
            <a:ext cx="73152" cy="146304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10820095" cy="1463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1F2328"/>
                </a:solidFill>
                <a:latin typeface="Segoe UI"/>
              </a:rPr>
              <a:t>Lesson: </a:t>
            </a:r>
            <a:r>
              <a:rPr sz="1600" b="0">
                <a:solidFill>
                  <a:srgbClr val="1F2328"/>
                </a:solidFill>
                <a:latin typeface="Segoe UI"/>
              </a:rPr>
              <a:t>the share of the network that is fine-tuned mattered more than the architecture. With comparable trainable share (92% vs 94%), EfficientNet-B0 beats ResNet-18 with ~3× fewer parameters.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5FAE"/>
                </a:solidFill>
                <a:latin typeface="Segoe U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328"/>
                </a:solidFill>
                <a:latin typeface="Segoe UI"/>
              </a:rPr>
              <a:t>Test-set results (20,000 unseen images)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097280" cy="4572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636E"/>
                </a:solidFill>
                <a:latin typeface="Segoe UI"/>
              </a:rPr>
              <a:t>Deepfake Detection · Real vs StyleGAN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636E"/>
                </a:solidFill>
                <a:latin typeface="Segoe U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8760"/>
          <a:ext cx="1109441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3985"/>
                <a:gridCol w="1320763"/>
                <a:gridCol w="1320763"/>
                <a:gridCol w="1320763"/>
                <a:gridCol w="1320763"/>
                <a:gridCol w="1320763"/>
                <a:gridCol w="105661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Accuracy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Precision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Recall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F1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ROC-AUC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Errors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2328"/>
                          </a:solidFill>
                          <a:latin typeface="Segoe UI"/>
                        </a:rPr>
                        <a:t>EfficientNet-B0 (final)</a:t>
                      </a:r>
                    </a:p>
                  </a:txBody>
                  <a:tcPr marL="73152" marR="73152" marT="36576" marB="36576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328"/>
                          </a:solidFill>
                          <a:latin typeface="Segoe UI"/>
                        </a:rPr>
                        <a:t>99.84%</a:t>
                      </a:r>
                    </a:p>
                  </a:txBody>
                  <a:tcPr marL="73152" marR="73152" marT="36576" marB="36576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328"/>
                          </a:solidFill>
                          <a:latin typeface="Segoe UI"/>
                        </a:rPr>
                        <a:t>99.79%</a:t>
                      </a:r>
                    </a:p>
                  </a:txBody>
                  <a:tcPr marL="73152" marR="73152" marT="36576" marB="36576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328"/>
                          </a:solidFill>
                          <a:latin typeface="Segoe UI"/>
                        </a:rPr>
                        <a:t>99.88%</a:t>
                      </a:r>
                    </a:p>
                  </a:txBody>
                  <a:tcPr marL="73152" marR="73152" marT="36576" marB="36576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328"/>
                          </a:solidFill>
                          <a:latin typeface="Segoe UI"/>
                        </a:rPr>
                        <a:t>99.84%</a:t>
                      </a:r>
                    </a:p>
                  </a:txBody>
                  <a:tcPr marL="73152" marR="73152" marT="36576" marB="36576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328"/>
                          </a:solidFill>
                          <a:latin typeface="Segoe UI"/>
                        </a:rPr>
                        <a:t>1.0000</a:t>
                      </a:r>
                    </a:p>
                  </a:txBody>
                  <a:tcPr marL="73152" marR="73152" marT="36576" marB="36576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328"/>
                          </a:solidFill>
                          <a:latin typeface="Segoe UI"/>
                        </a:rPr>
                        <a:t>33</a:t>
                      </a:r>
                    </a:p>
                  </a:txBody>
                  <a:tcPr marL="73152" marR="73152" marT="36576" marB="36576">
                    <a:solidFill>
                      <a:srgbClr val="EAF2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ResNet-18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98.98%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98.58%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99.38%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98.98%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0.9994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205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confusion_efficient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66110"/>
            <a:ext cx="3749039" cy="28117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996177"/>
            <a:ext cx="3749039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59636E"/>
                </a:solidFill>
                <a:latin typeface="Segoe UI"/>
              </a:rPr>
              <a:t>EfficientNet-B0</a:t>
            </a:r>
          </a:p>
        </p:txBody>
      </p:sp>
      <p:pic>
        <p:nvPicPr>
          <p:cNvPr id="11" name="Picture 10" descr="confusion_res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166110"/>
            <a:ext cx="3749039" cy="28117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43400" y="5996177"/>
            <a:ext cx="3749039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59636E"/>
                </a:solidFill>
                <a:latin typeface="Segoe UI"/>
              </a:rPr>
              <a:t>ResNet-18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2004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Test ≈ validation </a:t>
            </a:r>
            <a:r>
              <a:rPr sz="1500">
                <a:solidFill>
                  <a:srgbClr val="1F2328"/>
                </a:solidFill>
                <a:latin typeface="Segoe UI"/>
              </a:rPr>
              <a:t>→ no over-fitting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6× fewer errors </a:t>
            </a:r>
            <a:r>
              <a:rPr sz="1500">
                <a:solidFill>
                  <a:srgbClr val="1F2328"/>
                </a:solidFill>
                <a:latin typeface="Segoe UI"/>
              </a:rPr>
              <a:t>for EfficientNet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More false positives </a:t>
            </a:r>
            <a:r>
              <a:rPr sz="1500">
                <a:solidFill>
                  <a:srgbClr val="1F2328"/>
                </a:solidFill>
                <a:latin typeface="Segoe UI"/>
              </a:rPr>
              <a:t>than false negatives (21 vs 12)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5FAE"/>
                </a:solidFill>
                <a:latin typeface="Segoe U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328"/>
                </a:solidFill>
                <a:latin typeface="Segoe UI"/>
              </a:rPr>
              <a:t>ROC curve and error 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097280" cy="4572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636E"/>
                </a:solidFill>
                <a:latin typeface="Segoe UI"/>
              </a:rPr>
              <a:t>Deepfake Detection · Real vs StyleGAN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636E"/>
                </a:solidFill>
                <a:latin typeface="Segoe UI"/>
              </a:rPr>
              <a:t>13</a:t>
            </a:r>
          </a:p>
        </p:txBody>
      </p:sp>
      <p:pic>
        <p:nvPicPr>
          <p:cNvPr id="8" name="Picture 7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4480560" cy="4480560"/>
          </a:xfrm>
          <a:prstGeom prst="rect">
            <a:avLst/>
          </a:prstGeom>
        </p:spPr>
      </p:pic>
      <p:pic>
        <p:nvPicPr>
          <p:cNvPr id="9" name="Picture 8" descr="test_err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760754"/>
            <a:ext cx="6126480" cy="20563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577840" y="4251960"/>
            <a:ext cx="6126480" cy="155448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77840" y="4251960"/>
            <a:ext cx="73152" cy="155448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4251960"/>
            <a:ext cx="5852160" cy="1554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  <a:latin typeface="Segoe UI"/>
              </a:rPr>
              <a:t>AUC ≈ 1.000: almost every fake gets a higher P(fake) than almost every real photo — the result does not depend on the 0.5 threshold.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5FAE"/>
                </a:solidFill>
                <a:latin typeface="Segoe U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328"/>
                </a:solidFill>
                <a:latin typeface="Segoe UI"/>
              </a:rPr>
              <a:t>Error analysis — the most confident mistakes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097280" cy="4572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636E"/>
                </a:solidFill>
                <a:latin typeface="Segoe UI"/>
              </a:rPr>
              <a:t>Deepfake Detection · Real vs StyleGAN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636E"/>
                </a:solidFill>
                <a:latin typeface="Segoe UI"/>
              </a:rPr>
              <a:t>14</a:t>
            </a:r>
          </a:p>
        </p:txBody>
      </p:sp>
      <p:pic>
        <p:nvPicPr>
          <p:cNvPr id="8" name="Picture 7" descr="errors_efficientn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331" y="1417320"/>
            <a:ext cx="4182938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0" y="1508760"/>
            <a:ext cx="60350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600">
                <a:solidFill>
                  <a:srgbClr val="1F2328"/>
                </a:solidFill>
                <a:latin typeface="Segoe UI"/>
              </a:rPr>
              <a:t>Real → fake (false positives): </a:t>
            </a:r>
            <a:r>
              <a:rPr sz="1600">
                <a:solidFill>
                  <a:srgbClr val="1F2328"/>
                </a:solidFill>
                <a:latin typeface="Segoe UI"/>
              </a:rPr>
              <a:t>studio-like portraits — plain background, smooth or retouched skin, make-up, flash, symmetric frontal pose. Real photos that look as “clean” as StyleGAN.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600">
                <a:solidFill>
                  <a:srgbClr val="1F2328"/>
                </a:solidFill>
                <a:latin typeface="Segoe UI"/>
              </a:rPr>
              <a:t>Fake → real (false negatives): </a:t>
            </a:r>
            <a:r>
              <a:rPr sz="1600">
                <a:solidFill>
                  <a:srgbClr val="1F2328"/>
                </a:solidFill>
                <a:latin typeface="Segoe UI"/>
              </a:rPr>
              <a:t>busy realistic backgrounds or clothing, unusual lighting, sunglasses, face paint — StyleGAN artifacts less visible.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600">
                <a:solidFill>
                  <a:srgbClr val="1F2328"/>
                </a:solidFill>
                <a:latin typeface="Segoe UI"/>
              </a:rPr>
              <a:t>Most errors have moderate confidence </a:t>
            </a:r>
            <a:r>
              <a:rPr sz="1600">
                <a:solidFill>
                  <a:srgbClr val="1F2328"/>
                </a:solidFill>
                <a:latin typeface="Segoe UI"/>
              </a:rPr>
              <a:t>(65–90%); only a few exceed 95%.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5FAE"/>
                </a:solidFill>
                <a:latin typeface="Segoe UI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328"/>
                </a:solidFill>
                <a:latin typeface="Segoe UI"/>
              </a:rPr>
              <a:t>Explainability: how Grad-CAM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097280" cy="4572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636E"/>
                </a:solidFill>
                <a:latin typeface="Segoe UI"/>
              </a:rPr>
              <a:t>Deepfake Detection · Real vs StyleGAN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636E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852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600">
                <a:solidFill>
                  <a:srgbClr val="1F2328"/>
                </a:solidFill>
                <a:latin typeface="Segoe UI"/>
              </a:rPr>
              <a:t>1. Forward pass: </a:t>
            </a:r>
            <a:r>
              <a:rPr sz="1600">
                <a:solidFill>
                  <a:srgbClr val="1F2328"/>
                </a:solidFill>
                <a:latin typeface="Segoe UI"/>
              </a:rPr>
              <a:t>keep the feature maps Aᵏ of the last conv layer (7 × 7).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600">
                <a:solidFill>
                  <a:srgbClr val="1F2328"/>
                </a:solidFill>
                <a:latin typeface="Segoe UI"/>
              </a:rPr>
              <a:t>2. Backward pass: </a:t>
            </a:r>
            <a:r>
              <a:rPr sz="1600">
                <a:solidFill>
                  <a:srgbClr val="1F2328"/>
                </a:solidFill>
                <a:latin typeface="Segoe UI"/>
              </a:rPr>
              <a:t>gradients of the score y w.r.t. Aᵏ  (y = z for fake, −z for real).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600">
                <a:solidFill>
                  <a:srgbClr val="1F2328"/>
                </a:solidFill>
                <a:latin typeface="Segoe UI"/>
              </a:rPr>
              <a:t>3. Weights: </a:t>
            </a:r>
            <a:r>
              <a:rPr sz="1600">
                <a:solidFill>
                  <a:srgbClr val="1F2328"/>
                </a:solidFill>
                <a:latin typeface="Segoe UI"/>
              </a:rPr>
              <a:t>αₖ = global average of the gradients.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600">
                <a:solidFill>
                  <a:srgbClr val="1F2328"/>
                </a:solidFill>
                <a:latin typeface="Segoe UI"/>
              </a:rPr>
              <a:t>4. Heatmap: </a:t>
            </a:r>
            <a:r>
              <a:rPr sz="1600">
                <a:solidFill>
                  <a:srgbClr val="1F2328"/>
                </a:solidFill>
                <a:latin typeface="Segoe UI"/>
              </a:rPr>
              <a:t>ReLU( Σₖ αₖ Aᵏ ), upsample to 224 × 224, overlay.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600">
                <a:solidFill>
                  <a:srgbClr val="1F2328"/>
                </a:solidFill>
                <a:latin typeface="Segoe UI"/>
              </a:rPr>
              <a:t>Why the last conv layer: </a:t>
            </a:r>
            <a:r>
              <a:rPr sz="1600">
                <a:solidFill>
                  <a:srgbClr val="1F2328"/>
                </a:solidFill>
                <a:latin typeface="Segoe UI"/>
              </a:rPr>
              <a:t>most class-specific features, still spatial.</a:t>
            </a:r>
          </a:p>
        </p:txBody>
      </p:sp>
      <p:pic>
        <p:nvPicPr>
          <p:cNvPr id="9" name="Picture 8" descr="gradcam_manual_vs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5402"/>
            <a:ext cx="5120640" cy="17412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0" y="3977640"/>
            <a:ext cx="5120640" cy="13716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3977640"/>
            <a:ext cx="73152" cy="13716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3977640"/>
            <a:ext cx="484632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  <a:latin typeface="Segoe UI"/>
              </a:rPr>
              <a:t>Our hand-written Grad-CAM matches the pytorch-grad-cam library: correlation 0.99999999.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5FAE"/>
                </a:solidFill>
                <a:latin typeface="Segoe UI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328"/>
                </a:solidFill>
                <a:latin typeface="Segoe UI"/>
              </a:rPr>
              <a:t>Grad-CAM findings — where the model looks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097280" cy="4572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636E"/>
                </a:solidFill>
                <a:latin typeface="Segoe UI"/>
              </a:rPr>
              <a:t>Deepfake Detection · Real vs StyleGAN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636E"/>
                </a:solidFill>
                <a:latin typeface="Segoe UI"/>
              </a:rPr>
              <a:t>16</a:t>
            </a:r>
          </a:p>
        </p:txBody>
      </p:sp>
      <p:pic>
        <p:nvPicPr>
          <p:cNvPr id="8" name="Picture 7" descr="gradcam_f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29447"/>
            <a:ext cx="2651760" cy="41306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878361"/>
            <a:ext cx="26517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59636E"/>
                </a:solidFill>
                <a:latin typeface="Segoe UI"/>
              </a:rPr>
              <a:t>correct fakes</a:t>
            </a:r>
          </a:p>
        </p:txBody>
      </p:sp>
      <p:pic>
        <p:nvPicPr>
          <p:cNvPr id="10" name="Picture 9" descr="gradcam_re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729447"/>
            <a:ext cx="2651760" cy="41306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37560" y="5878361"/>
            <a:ext cx="26517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59636E"/>
                </a:solidFill>
                <a:latin typeface="Segoe UI"/>
              </a:rPr>
              <a:t>correct reals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508760"/>
            <a:ext cx="53949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Fakes: </a:t>
            </a:r>
            <a:r>
              <a:rPr sz="1500">
                <a:solidFill>
                  <a:srgbClr val="1F2328"/>
                </a:solidFill>
                <a:latin typeface="Segoe UI"/>
              </a:rPr>
              <a:t>tight, central attention — between the eyes, nose bridge, mouth/teeth, where generator artifacts concentrate.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Real photos: </a:t>
            </a:r>
            <a:r>
              <a:rPr sz="1500">
                <a:solidFill>
                  <a:srgbClr val="1F2328"/>
                </a:solidFill>
                <a:latin typeface="Segoe UI"/>
              </a:rPr>
              <a:t>spread over hair, background, hats, hands and objects — natural camera detail StyleGAN renders poorly.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Errors follow the same logic: </a:t>
            </a:r>
            <a:r>
              <a:rPr sz="1500">
                <a:solidFill>
                  <a:srgbClr val="1F2328"/>
                </a:solidFill>
                <a:latin typeface="Segoe UI"/>
              </a:rPr>
              <a:t>real→fake errors get face-centred attention; fake→real errors look at realistic backgrounds.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No trivial shortcut </a:t>
            </a:r>
            <a:r>
              <a:rPr sz="1500">
                <a:solidFill>
                  <a:srgbClr val="1F2328"/>
                </a:solidFill>
                <a:latin typeface="Segoe UI"/>
              </a:rPr>
              <a:t>(border, watermark) — but the cues are specific to StyleGAN’s aligned faces.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5FAE"/>
                </a:solidFill>
                <a:latin typeface="Segoe UI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328"/>
                </a:solidFill>
                <a:latin typeface="Segoe UI"/>
              </a:rPr>
              <a:t>Demo app and out-of-distribution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097280" cy="4572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636E"/>
                </a:solidFill>
                <a:latin typeface="Segoe UI"/>
              </a:rPr>
              <a:t>Deepfake Detection · Real vs StyleGAN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636E"/>
                </a:solidFill>
                <a:latin typeface="Segoe U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2011680" cy="86868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20116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1F5FAE"/>
                </a:solidFill>
                <a:latin typeface="Segoe UI"/>
              </a:rPr>
              <a:t>Upload face image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508760"/>
            <a:ext cx="2011680" cy="86868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508760"/>
            <a:ext cx="20116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1F5FAE"/>
                </a:solidFill>
                <a:latin typeface="Segoe UI"/>
              </a:rPr>
              <a:t>Resize + normalise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508760"/>
            <a:ext cx="2011680" cy="86868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508760"/>
            <a:ext cx="20116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1F5FAE"/>
                </a:solidFill>
                <a:latin typeface="Segoe UI"/>
              </a:rPr>
              <a:t>EfficientNet-B0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1508760"/>
            <a:ext cx="2011680" cy="86868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508760"/>
            <a:ext cx="20116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1F5FAE"/>
                </a:solidFill>
                <a:latin typeface="Segoe UI"/>
              </a:rPr>
              <a:t>REAL / FAKE + confidence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1508760"/>
            <a:ext cx="2011680" cy="86868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508760"/>
            <a:ext cx="20116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1F5FAE"/>
                </a:solidFill>
                <a:latin typeface="Segoe UI"/>
              </a:rPr>
              <a:t>Grad-CAM overlay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517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streamlit run app.py </a:t>
            </a:r>
            <a:r>
              <a:rPr sz="1500">
                <a:solidFill>
                  <a:srgbClr val="1F2328"/>
                </a:solidFill>
                <a:latin typeface="Segoe UI"/>
              </a:rPr>
              <a:t>— plain interface: upload → predict → show result.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≈ 1 s per image </a:t>
            </a:r>
            <a:r>
              <a:rPr sz="1500">
                <a:solidFill>
                  <a:srgbClr val="1F2328"/>
                </a:solidFill>
                <a:latin typeface="Segoe UI"/>
              </a:rPr>
              <a:t>including Grad-CAM, on a laptop CPU.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500">
                <a:solidFill>
                  <a:srgbClr val="1F2328"/>
                </a:solidFill>
                <a:latin typeface="Segoe UI"/>
              </a:rPr>
              <a:t>Model cached </a:t>
            </a:r>
            <a:r>
              <a:rPr sz="1500">
                <a:solidFill>
                  <a:srgbClr val="1F2328"/>
                </a:solidFill>
                <a:latin typeface="Segoe UI"/>
              </a:rPr>
              <a:t>with @st.cache_resource.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651760"/>
            <a:ext cx="5394960" cy="3291840"/>
          </a:xfrm>
          <a:prstGeom prst="rect">
            <a:avLst/>
          </a:prstGeom>
          <a:solidFill>
            <a:srgbClr val="FF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651760"/>
            <a:ext cx="73152" cy="3291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651760"/>
            <a:ext cx="5120640" cy="3291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1F2328"/>
                </a:solidFill>
                <a:latin typeface="Segoe UI"/>
              </a:rPr>
              <a:t>Out-of-distribution test</a:t>
            </a:r>
          </a:p>
          <a:p>
            <a:pPr algn="l"/>
            <a:r>
              <a:rPr sz="1600" b="0">
                <a:solidFill>
                  <a:srgbClr val="1F2328"/>
                </a:solidFill>
                <a:latin typeface="Segoe UI"/>
              </a:rPr>
              <a:t/>
            </a:r>
          </a:p>
          <a:p>
            <a:pPr algn="l"/>
            <a:r>
              <a:rPr sz="1600" b="0">
                <a:solidFill>
                  <a:srgbClr val="1F2328"/>
                </a:solidFill>
                <a:latin typeface="Segoe UI"/>
              </a:rPr>
              <a:t>3 face images generated with ChatGPT</a:t>
            </a:r>
          </a:p>
          <a:p>
            <a:pPr algn="l"/>
            <a:r>
              <a:rPr sz="1600" b="1">
                <a:solidFill>
                  <a:srgbClr val="1F2328"/>
                </a:solidFill>
                <a:latin typeface="Segoe UI"/>
              </a:rPr>
              <a:t>→ all predicted REAL with ≈100% confidence</a:t>
            </a:r>
          </a:p>
          <a:p>
            <a:pPr algn="l"/>
            <a:r>
              <a:rPr sz="1600" b="0">
                <a:solidFill>
                  <a:srgbClr val="1F2328"/>
                </a:solidFill>
                <a:latin typeface="Segoe UI"/>
              </a:rPr>
              <a:t/>
            </a:r>
          </a:p>
          <a:p>
            <a:pPr algn="l"/>
            <a:r>
              <a:rPr sz="1600" b="0">
                <a:solidFill>
                  <a:srgbClr val="1F2328"/>
                </a:solidFill>
                <a:latin typeface="Segoe UI"/>
              </a:rPr>
              <a:t>The model learned StyleGAN’s fingerprint, not “fakeness” in general.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5FAE"/>
                </a:solidFill>
                <a:latin typeface="Segoe U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328"/>
                </a:solidFill>
                <a:latin typeface="Segoe UI"/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097280" cy="4572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636E"/>
                </a:solidFill>
                <a:latin typeface="Segoe UI"/>
              </a:rPr>
              <a:t>Deepfake Detection · Real vs StyleGAN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636E"/>
                </a:solidFill>
                <a:latin typeface="Segoe UI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5394960" cy="448056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73152" cy="448056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5120640" cy="4480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2328"/>
                </a:solidFill>
                <a:latin typeface="Segoe UI"/>
              </a:rPr>
              <a:t>Is 99.8% over-fitting?  No.</a:t>
            </a:r>
          </a:p>
          <a:p>
            <a:pPr algn="l"/>
            <a:r>
              <a:rPr sz="1500" b="0">
                <a:solidFill>
                  <a:srgbClr val="1F2328"/>
                </a:solidFill>
                <a:latin typeface="Segoe UI"/>
              </a:rPr>
              <a:t/>
            </a:r>
          </a:p>
          <a:p>
            <a:pPr algn="l"/>
            <a:r>
              <a:rPr sz="1500" b="0">
                <a:solidFill>
                  <a:srgbClr val="1F2328"/>
                </a:solidFill>
                <a:latin typeface="Segoe UI"/>
              </a:rPr>
              <a:t>Train 99.72% · validation 99.88% · test 99.84% — within 0.2% on 40,000 images never trained on.</a:t>
            </a:r>
          </a:p>
          <a:p>
            <a:pPr algn="l"/>
            <a:r>
              <a:rPr sz="1500" b="0">
                <a:solidFill>
                  <a:srgbClr val="1F2328"/>
                </a:solidFill>
                <a:latin typeface="Segoe UI"/>
              </a:rPr>
              <a:t/>
            </a:r>
          </a:p>
          <a:p>
            <a:pPr algn="l"/>
            <a:r>
              <a:rPr sz="1500" b="0">
                <a:solidFill>
                  <a:srgbClr val="1F2328"/>
                </a:solidFill>
                <a:latin typeface="Segoe UI"/>
              </a:rPr>
              <a:t>Accuracy is high because the task is narrow: one generator (StyleGAN) with a consistent fingerprint, all faces aligned.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394960" cy="4480560"/>
          </a:xfrm>
          <a:prstGeom prst="rect">
            <a:avLst/>
          </a:prstGeom>
          <a:solidFill>
            <a:srgbClr val="FF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73152" cy="4480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08760"/>
            <a:ext cx="5120640" cy="4480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2328"/>
                </a:solidFill>
                <a:latin typeface="Segoe UI"/>
              </a:rPr>
              <a:t>Why does it fail on ChatGPT images?</a:t>
            </a:r>
          </a:p>
          <a:p>
            <a:pPr algn="l"/>
            <a:r>
              <a:rPr sz="1500" b="0">
                <a:solidFill>
                  <a:srgbClr val="1F2328"/>
                </a:solidFill>
                <a:latin typeface="Segoe UI"/>
              </a:rPr>
              <a:t/>
            </a:r>
          </a:p>
          <a:p>
            <a:pPr algn="l"/>
            <a:r>
              <a:rPr sz="1500" b="0">
                <a:solidFill>
                  <a:srgbClr val="1F2328"/>
                </a:solidFill>
                <a:latin typeface="Segoe UI"/>
              </a:rPr>
              <a:t>1. Different generator → different fingerprint</a:t>
            </a:r>
          </a:p>
          <a:p>
            <a:pPr algn="l"/>
            <a:r>
              <a:rPr sz="1500" b="0">
                <a:solidFill>
                  <a:srgbClr val="1F2328"/>
                </a:solidFill>
                <a:latin typeface="Segoe UI"/>
              </a:rPr>
              <a:t>2. Only two classes → “real” means “not StyleGAN”</a:t>
            </a:r>
          </a:p>
          <a:p>
            <a:pPr algn="l"/>
            <a:r>
              <a:rPr sz="1500" b="0">
                <a:solidFill>
                  <a:srgbClr val="1F2328"/>
                </a:solidFill>
                <a:latin typeface="Segoe UI"/>
              </a:rPr>
              <a:t>3. Larger, un-aligned images → different input statistics</a:t>
            </a:r>
          </a:p>
          <a:p>
            <a:pPr algn="l"/>
            <a:r>
              <a:rPr sz="1500" b="0">
                <a:solidFill>
                  <a:srgbClr val="1F2328"/>
                </a:solidFill>
                <a:latin typeface="Segoe UI"/>
              </a:rPr>
              <a:t>4. Networks are over-confident outside their training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5FAE"/>
                </a:solidFill>
                <a:latin typeface="Segoe U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328"/>
                </a:solidFill>
                <a:latin typeface="Segoe UI"/>
              </a:rPr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097280" cy="4572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636E"/>
                </a:solidFill>
                <a:latin typeface="Segoe UI"/>
              </a:rPr>
              <a:t>Deepfake Detection · Real vs StyleGAN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636E"/>
                </a:solidFill>
                <a:latin typeface="Segoe UI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8760"/>
          <a:ext cx="11094414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7952"/>
                <a:gridCol w="7026462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Limitation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Consequence</a:t>
                      </a:r>
                    </a:p>
                  </a:txBody>
                  <a:tcPr marL="73152" marR="73152" marT="36576" marB="36576">
                    <a:solidFill>
                      <a:srgbClr val="1F5FA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Single generator (StyleGAN) in training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fails on other generators — shown with ChatGPT images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Aligned 256 px FFHQ-style faces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arbitrary photos are out of distribution; no face detector in the app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No robustness tests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JPEG re-compression, resizing, blur, screenshots may erase the fingerprint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Uncalibrated confidence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high confidence on unfamiliar inputs; no “unknown” option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Coarse 7 × 7 Grad-CAM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shows roughly where, not which artifact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Still images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Segoe UI"/>
                        </a:rPr>
                        <a:t>no temporal cues for video deepfakes / face swaps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5FAE"/>
                </a:solidFill>
                <a:latin typeface="Segoe U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328"/>
                </a:solidFill>
                <a:latin typeface="Segoe UI"/>
              </a:rPr>
              <a:t>Future work and extensions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097280" cy="4572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636E"/>
                </a:solidFill>
                <a:latin typeface="Segoe UI"/>
              </a:rPr>
              <a:t>Deepfake Detection · Real vs StyleGAN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636E"/>
                </a:solidFill>
                <a:latin typeface="Segoe UI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3566160" cy="201168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5FAE"/>
                </a:solidFill>
                <a:latin typeface="Segoe UI"/>
              </a:rPr>
              <a:t>Multi-generator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1F2328"/>
                </a:solidFill>
                <a:latin typeface="Segoe UI"/>
              </a:rPr>
              <a:t>add StyleGAN2/3 + diffusion fakes (Stable Diffusion, Midjourney, DALL·E); leave-one-generator-out evaluation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508760"/>
            <a:ext cx="3566160" cy="201168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64592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5FAE"/>
                </a:solidFill>
                <a:latin typeface="Segoe UI"/>
              </a:rPr>
              <a:t>General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148840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1F2328"/>
                </a:solidFill>
                <a:latin typeface="Segoe UI"/>
              </a:rPr>
              <a:t>frozen CLIP/ViT features + linear probe (Ojha et al., 2023)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8" y="1508760"/>
            <a:ext cx="3566160" cy="201168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8" y="164592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5FAE"/>
                </a:solidFill>
                <a:latin typeface="Segoe UI"/>
              </a:rPr>
              <a:t>Frequency branch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2148840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1F2328"/>
                </a:solidFill>
                <a:latin typeface="Segoe UI"/>
              </a:rPr>
              <a:t>two-stream RGB + Fourier model for up-sampling artifacts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40"/>
            <a:ext cx="3566160" cy="201168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5FAE"/>
                </a:solidFill>
                <a:latin typeface="Segoe UI"/>
              </a:rPr>
              <a:t>Robustness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1F2328"/>
                </a:solidFill>
                <a:latin typeface="Segoe UI"/>
              </a:rPr>
              <a:t>train with JPEG, blur, resize, noise augmentation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3749040"/>
            <a:ext cx="3566160" cy="201168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38862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5FAE"/>
                </a:solidFill>
                <a:latin typeface="Segoe UI"/>
              </a:rPr>
              <a:t>Face detection + calibration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4389120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1F2328"/>
                </a:solidFill>
                <a:latin typeface="Segoe UI"/>
              </a:rPr>
              <a:t>MTCNN/RetinaFace in the app; temperature scaling and an “uncertain” output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18" y="3749040"/>
            <a:ext cx="3566160" cy="201168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8" y="38862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5FAE"/>
                </a:solidFill>
                <a:latin typeface="Segoe UI"/>
              </a:rPr>
              <a:t>Video and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8" y="4389120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1F2328"/>
                </a:solidFill>
                <a:latin typeface="Segoe UI"/>
              </a:rPr>
              <a:t>FaceForensics++/DFDC with temporal models; ONNX + REST API deployment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5FAE"/>
                </a:solidFill>
                <a:latin typeface="Segoe U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328"/>
                </a:solidFill>
                <a:latin typeface="Segoe UI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097280" cy="4572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636E"/>
                </a:solidFill>
                <a:latin typeface="Segoe UI"/>
              </a:rPr>
              <a:t>Deepfake Detection · Real vs StyleGAN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636E"/>
                </a:solidFill>
                <a:latin typeface="Segoe U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65836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600">
                <a:solidFill>
                  <a:srgbClr val="1F2328"/>
                </a:solidFill>
                <a:latin typeface="Segoe UI"/>
              </a:rPr>
              <a:t>Complete pipeline: </a:t>
            </a:r>
            <a:r>
              <a:rPr sz="1600">
                <a:solidFill>
                  <a:srgbClr val="1F2328"/>
                </a:solidFill>
                <a:latin typeface="Segoe UI"/>
              </a:rPr>
              <a:t>verified data → two-phase transfer learning → rigorous evaluation → Grad-CAM → demo app.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600">
                <a:solidFill>
                  <a:srgbClr val="1F2328"/>
                </a:solidFill>
                <a:latin typeface="Segoe UI"/>
              </a:rPr>
              <a:t>EfficientNet-B0: </a:t>
            </a:r>
            <a:r>
              <a:rPr sz="1600">
                <a:solidFill>
                  <a:srgbClr val="1F2328"/>
                </a:solidFill>
                <a:latin typeface="Segoe UI"/>
              </a:rPr>
              <a:t>99.84% test accuracy, ROC-AUC 1.0000, 33 errors in 20,000 — 6× fewer than ResNet-18 with 3× fewer parameters.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600">
                <a:solidFill>
                  <a:srgbClr val="1F2328"/>
                </a:solidFill>
                <a:latin typeface="Segoe UI"/>
              </a:rPr>
              <a:t>Fine-tuning depth matters: </a:t>
            </a:r>
            <a:r>
              <a:rPr sz="1600">
                <a:solidFill>
                  <a:srgbClr val="1F2328"/>
                </a:solidFill>
                <a:latin typeface="Segoe UI"/>
              </a:rPr>
              <a:t>28% → 92% of weights trained took EfficientNet from 93.7% to 99.9%.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600">
                <a:solidFill>
                  <a:srgbClr val="1F2328"/>
                </a:solidFill>
                <a:latin typeface="Segoe UI"/>
              </a:rPr>
              <a:t>Interpretable: </a:t>
            </a:r>
            <a:r>
              <a:rPr sz="1600">
                <a:solidFill>
                  <a:srgbClr val="1F2328"/>
                </a:solidFill>
                <a:latin typeface="Segoe UI"/>
              </a:rPr>
              <a:t>inner-face artifacts for fakes, natural context for real photos.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F5FAE"/>
                </a:solidFill>
                <a:latin typeface="Segoe UI"/>
              </a:rPr>
              <a:t>•  </a:t>
            </a:r>
            <a:r>
              <a:rPr b="1" sz="1600">
                <a:solidFill>
                  <a:srgbClr val="1F2328"/>
                </a:solidFill>
                <a:latin typeface="Segoe UI"/>
              </a:rPr>
              <a:t>Key lesson: </a:t>
            </a:r>
            <a:r>
              <a:rPr sz="1600">
                <a:solidFill>
                  <a:srgbClr val="1F2328"/>
                </a:solidFill>
                <a:latin typeface="Segoe UI"/>
              </a:rPr>
              <a:t>near-perfect accuracy on one generator ≠ a general deepfake detector.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508760"/>
            <a:ext cx="4069080" cy="4709160"/>
          </a:xfrm>
          <a:prstGeom prst="rect">
            <a:avLst/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2606040"/>
            <a:ext cx="40690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611880"/>
            <a:ext cx="40690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Segoe UI"/>
              </a:rPr>
              <a:t>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4800600"/>
            <a:ext cx="40690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github.com/Mohd2Shaan/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Deepfake-Detection-Project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